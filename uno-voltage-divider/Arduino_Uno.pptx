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8CCC09C-3AAC-7E55-7679-09FC661F4B47}">
          <p14:sldIdLst>
            <p14:sldId id="256"/>
            <p14:sldId id="257"/>
          </p14:sldIdLst>
        </p14:section>
        <p14:section name="Pins and functions" id="{1AB3B605-4B92-D044-B29D-700697F2871E}">
          <p14:sldIdLst>
            <p14:sldId id="258"/>
            <p14:sldId id="259"/>
            <p14:sldId id="260"/>
          </p14:sldIdLst>
        </p14:section>
        <p14:section name="Voltage divider" id="{218E0AD1-9CEB-39A7-D7E8-2116CA6B0077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0327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to the Arduino Uno: what it is, how its pins work, and how a voltage divider is built and calculated (SCRUM-25).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Uno is built around an ATmega328P, an 8-bit CMOS chip that acts as the CPU. It exposes analog and digital pins.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Digital and analog pins read and execute differently. Figure 1 shows where each group sits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pinMode is called inside void setup() for every pin you plan to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Digital pins use digitalRead and digitalWrite; analog pins use analogRead and analogWrite.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resistors in series across a 5 V supply. The multimeter between them reads 3.33 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Vout = R2 / (R1 + R2) x Vin. With R1 = 1 and R2 = 2 and 5 V in, the output is 3.333 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332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-1280160"/>
            <a:ext cx="5120640" cy="512064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377440"/>
            <a:ext cx="4023360" cy="402336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566160"/>
            <a:ext cx="1371600" cy="1371600"/>
          </a:xfrm>
          <a:prstGeom prst="rect">
            <a:avLst/>
          </a:prstGeom>
        </p:spPr>
      </p:pic>
      <p:sp>
        <p:nvSpPr>
          <p:cNvPr id="5" name="Text 0"/>
          <p:cNvSpPr>
            <a:spLocks noGrp="1"/>
          </p:cNvSpPr>
          <p:nvPr>
            <p:ph type="title" idx="103" hasCustomPrompt="1"/>
          </p:nvPr>
        </p:nvSpPr>
        <p:spPr>
          <a:xfrm>
            <a:off x="640080" y="1554480"/>
            <a:ext cx="51206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640080" y="2880360"/>
            <a:ext cx="4754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4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-640080"/>
            <a:ext cx="1645920" cy="16459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457200"/>
            <a:ext cx="731520" cy="73152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73152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332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-640080"/>
            <a:ext cx="1645920" cy="16459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457200"/>
            <a:ext cx="731520" cy="73152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73152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640080" y="15544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Arduino Uno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4" hasCustomPrompt="1"/>
          </p:nvPr>
        </p:nvSpPr>
        <p:spPr>
          <a:xfrm>
            <a:off x="640080" y="28803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A microcontroller brain for your electronics projects: pins, functions and the voltage divider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569742" y="2743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u="sng" dirty="0">
                <a:solidFill>
                  <a:schemeClr val="tx1"/>
                </a:solidFill>
              </a:rPr>
              <a:t>What is the Arduino Uno?</a:t>
            </a:r>
            <a:endParaRPr lang="en-US" sz="3400" u="sng" dirty="0"/>
          </a:p>
        </p:txBody>
      </p:sp>
      <p:sp>
        <p:nvSpPr>
          <p:cNvPr id="3" name="Intro text"/>
          <p:cNvSpPr txBox="1"/>
          <p:nvPr/>
        </p:nvSpPr>
        <p:spPr>
          <a:xfrm>
            <a:off x="548640" y="13716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 digital microcontroller that can be used as the brain of an electronics project. It has both analog and digital pins.</a:t>
            </a:r>
            <a:endParaRPr lang="en-US" sz="1800" dirty="0"/>
          </a:p>
        </p:txBody>
      </p:sp>
      <p:sp>
        <p:nvSpPr>
          <p:cNvPr id="4" name="CPU card"/>
          <p:cNvSpPr/>
          <p:nvPr/>
        </p:nvSpPr>
        <p:spPr>
          <a:xfrm>
            <a:off x="4754880" y="1371600"/>
            <a:ext cx="38404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33271F">
                <a:alpha val="15000"/>
              </a:srgbClr>
            </a:outerShdw>
          </a:effectLst>
        </p:spPr>
      </p:sp>
      <p:sp>
        <p:nvSpPr>
          <p:cNvPr id="5" name="Chip icon circle"/>
          <p:cNvSpPr/>
          <p:nvPr/>
        </p:nvSpPr>
        <p:spPr>
          <a:xfrm>
            <a:off x="4983480" y="16459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hip icon" descr="Chi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220" y="1851660"/>
            <a:ext cx="411480" cy="411480"/>
          </a:xfrm>
          <a:prstGeom prst="rect">
            <a:avLst/>
          </a:prstGeom>
        </p:spPr>
      </p:pic>
      <p:sp>
        <p:nvSpPr>
          <p:cNvPr id="7" name="CPU text"/>
          <p:cNvSpPr txBox="1"/>
          <p:nvPr/>
        </p:nvSpPr>
        <p:spPr>
          <a:xfrm>
            <a:off x="5943600" y="15087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ATmega328P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8-bit CMOS chip that forms the CPU</a:t>
            </a:r>
            <a:endParaRPr lang="en-US" sz="2200" dirty="0"/>
          </a:p>
        </p:txBody>
      </p:sp>
      <p:sp>
        <p:nvSpPr>
          <p:cNvPr id="8" name="Pins card"/>
          <p:cNvSpPr/>
          <p:nvPr/>
        </p:nvSpPr>
        <p:spPr>
          <a:xfrm>
            <a:off x="4754880" y="3017520"/>
            <a:ext cx="38404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33271F">
                <a:alpha val="15000"/>
              </a:srgbClr>
            </a:outerShdw>
          </a:effectLst>
        </p:spPr>
      </p:sp>
      <p:sp>
        <p:nvSpPr>
          <p:cNvPr id="9" name="Bolt icon circle"/>
          <p:cNvSpPr/>
          <p:nvPr/>
        </p:nvSpPr>
        <p:spPr>
          <a:xfrm>
            <a:off x="4983480" y="329184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Bolt icon" descr="Bol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220" y="3497580"/>
            <a:ext cx="411480" cy="411480"/>
          </a:xfrm>
          <a:prstGeom prst="rect">
            <a:avLst/>
          </a:prstGeom>
        </p:spPr>
      </p:pic>
      <p:sp>
        <p:nvSpPr>
          <p:cNvPr id="11" name="Pins text"/>
          <p:cNvSpPr txBox="1"/>
          <p:nvPr/>
        </p:nvSpPr>
        <p:spPr>
          <a:xfrm>
            <a:off x="5943600" y="31546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Analog + Digital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Two kinds of pins on one board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Digital and analog pins</a:t>
            </a:r>
            <a:endParaRPr lang="en-US" sz="3400" dirty="0"/>
          </a:p>
        </p:txBody>
      </p:sp>
      <p:sp>
        <p:nvSpPr>
          <p:cNvPr id="3" name="Board photo card"/>
          <p:cNvSpPr/>
          <p:nvPr/>
        </p:nvSpPr>
        <p:spPr>
          <a:xfrm>
            <a:off x="548640" y="1371600"/>
            <a:ext cx="420624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33271F">
                <a:alpha val="15000"/>
              </a:srgbClr>
            </a:outerShdw>
          </a:effectLst>
        </p:spPr>
      </p:sp>
      <p:pic>
        <p:nvPicPr>
          <p:cNvPr id="4" name="Figure 1 Arduino Uno pins" descr="Arduino Uno board with digital and analog pin headers highligh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08760"/>
            <a:ext cx="3566160" cy="2889819"/>
          </a:xfrm>
          <a:prstGeom prst="rect">
            <a:avLst/>
          </a:prstGeom>
        </p:spPr>
      </p:pic>
      <p:sp>
        <p:nvSpPr>
          <p:cNvPr id="5" name="Figure 1 caption"/>
          <p:cNvSpPr txBox="1"/>
          <p:nvPr/>
        </p:nvSpPr>
        <p:spPr>
          <a:xfrm>
            <a:off x="548640" y="4526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Figure 1: Arduino Uno pins</a:t>
            </a:r>
            <a:endParaRPr lang="en-US" sz="1100" dirty="0"/>
          </a:p>
        </p:txBody>
      </p:sp>
      <p:sp>
        <p:nvSpPr>
          <p:cNvPr id="6" name="Digital card"/>
          <p:cNvSpPr/>
          <p:nvPr/>
        </p:nvSpPr>
        <p:spPr>
          <a:xfrm>
            <a:off x="5120640" y="1371600"/>
            <a:ext cx="347472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33271F">
                <a:alpha val="15000"/>
              </a:srgbClr>
            </a:outerShdw>
          </a:effectLst>
        </p:spPr>
      </p:sp>
      <p:sp>
        <p:nvSpPr>
          <p:cNvPr id="7" name="Toggle icon circle"/>
          <p:cNvSpPr/>
          <p:nvPr/>
        </p:nvSpPr>
        <p:spPr>
          <a:xfrm>
            <a:off x="5303520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Toggle icon" descr="Togg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874520"/>
            <a:ext cx="365760" cy="365760"/>
          </a:xfrm>
          <a:prstGeom prst="rect">
            <a:avLst/>
          </a:prstGeom>
        </p:spPr>
      </p:pic>
      <p:sp>
        <p:nvSpPr>
          <p:cNvPr id="9" name="Digital text"/>
          <p:cNvSpPr txBox="1"/>
          <p:nvPr/>
        </p:nvSpPr>
        <p:spPr>
          <a:xfrm>
            <a:off x="6217920" y="146304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Digital pins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Marked DIGITAL on the board</a:t>
            </a:r>
            <a:endParaRPr lang="en-US" sz="2000" dirty="0"/>
          </a:p>
        </p:txBody>
      </p:sp>
      <p:sp>
        <p:nvSpPr>
          <p:cNvPr id="10" name="Analog card"/>
          <p:cNvSpPr/>
          <p:nvPr/>
        </p:nvSpPr>
        <p:spPr>
          <a:xfrm>
            <a:off x="5120640" y="3063240"/>
            <a:ext cx="347472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33271F">
                <a:alpha val="15000"/>
              </a:srgbClr>
            </a:outerShdw>
          </a:effectLst>
        </p:spPr>
      </p:sp>
      <p:sp>
        <p:nvSpPr>
          <p:cNvPr id="11" name="Wave icon circle"/>
          <p:cNvSpPr/>
          <p:nvPr/>
        </p:nvSpPr>
        <p:spPr>
          <a:xfrm>
            <a:off x="5303520" y="33832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Wave icon" descr="Wav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3566160"/>
            <a:ext cx="365760" cy="365760"/>
          </a:xfrm>
          <a:prstGeom prst="rect">
            <a:avLst/>
          </a:prstGeom>
        </p:spPr>
      </p:pic>
      <p:sp>
        <p:nvSpPr>
          <p:cNvPr id="13" name="Analog text"/>
          <p:cNvSpPr txBox="1"/>
          <p:nvPr/>
        </p:nvSpPr>
        <p:spPr>
          <a:xfrm>
            <a:off x="6217920" y="315468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Analog pins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Marked ANALOG IN (A0 to A5)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Declare a pin before using it</a:t>
            </a:r>
            <a:endParaRPr lang="en-US" sz="3400" dirty="0"/>
          </a:p>
        </p:txBody>
      </p:sp>
      <p:sp>
        <p:nvSpPr>
          <p:cNvPr id="3" name="Declare intro"/>
          <p:cNvSpPr txBox="1"/>
          <p:nvPr/>
        </p:nvSpPr>
        <p:spPr>
          <a:xfrm>
            <a:off x="548640" y="1280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To read any pin value, the pin must first be declared in void setup() as either INPUT or OUTPUT.</a:t>
            </a:r>
            <a:endParaRPr lang="en-US" sz="1800" dirty="0"/>
          </a:p>
        </p:txBody>
      </p:sp>
      <p:sp>
        <p:nvSpPr>
          <p:cNvPr id="4" name="Code card"/>
          <p:cNvSpPr/>
          <p:nvPr/>
        </p:nvSpPr>
        <p:spPr>
          <a:xfrm>
            <a:off x="548640" y="2103120"/>
            <a:ext cx="3840480" cy="2286000"/>
          </a:xfrm>
          <a:prstGeom prst="roundRect">
            <a:avLst>
              <a:gd name="adj" fmla="val 4800"/>
            </a:avLst>
          </a:prstGeom>
          <a:solidFill>
            <a:schemeClr val="tx1"/>
          </a:solidFill>
          <a:ln/>
        </p:spPr>
      </p:sp>
      <p:sp>
        <p:nvSpPr>
          <p:cNvPr id="5" name="Code sample"/>
          <p:cNvSpPr txBox="1"/>
          <p:nvPr/>
        </p:nvSpPr>
        <p:spPr>
          <a:xfrm>
            <a:off x="822960" y="228600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pinMode(pin, INPUT);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pinMode(pin, OUTPUT);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Input card"/>
          <p:cNvSpPr/>
          <p:nvPr/>
        </p:nvSpPr>
        <p:spPr>
          <a:xfrm>
            <a:off x="4754880" y="2103120"/>
            <a:ext cx="38404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33271F">
                <a:alpha val="15000"/>
              </a:srgbClr>
            </a:outerShdw>
          </a:effectLst>
        </p:spPr>
      </p:sp>
      <p:sp>
        <p:nvSpPr>
          <p:cNvPr id="7" name="Eye icon circle"/>
          <p:cNvSpPr/>
          <p:nvPr/>
        </p:nvSpPr>
        <p:spPr>
          <a:xfrm>
            <a:off x="4937760" y="2304288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Eye icon" descr="Ey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780" y="2464308"/>
            <a:ext cx="320040" cy="320040"/>
          </a:xfrm>
          <a:prstGeom prst="rect">
            <a:avLst/>
          </a:prstGeom>
        </p:spPr>
      </p:pic>
      <p:sp>
        <p:nvSpPr>
          <p:cNvPr id="9" name="Input text"/>
          <p:cNvSpPr txBox="1"/>
          <p:nvPr/>
        </p:nvSpPr>
        <p:spPr>
          <a:xfrm>
            <a:off x="5760720" y="21488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INPUT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Read a value from the pin</a:t>
            </a:r>
            <a:endParaRPr lang="en-US" sz="1800" dirty="0"/>
          </a:p>
        </p:txBody>
      </p:sp>
      <p:sp>
        <p:nvSpPr>
          <p:cNvPr id="10" name="Output card"/>
          <p:cNvSpPr/>
          <p:nvPr/>
        </p:nvSpPr>
        <p:spPr>
          <a:xfrm>
            <a:off x="4754880" y="3337560"/>
            <a:ext cx="38404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33271F">
                <a:alpha val="15000"/>
              </a:srgbClr>
            </a:outerShdw>
          </a:effectLst>
        </p:spPr>
      </p:sp>
      <p:sp>
        <p:nvSpPr>
          <p:cNvPr id="11" name="Pen icon circle"/>
          <p:cNvSpPr/>
          <p:nvPr/>
        </p:nvSpPr>
        <p:spPr>
          <a:xfrm>
            <a:off x="4937760" y="35387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Pen icon" descr="Pe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3698748"/>
            <a:ext cx="320040" cy="320040"/>
          </a:xfrm>
          <a:prstGeom prst="rect">
            <a:avLst/>
          </a:prstGeom>
        </p:spPr>
      </p:pic>
      <p:sp>
        <p:nvSpPr>
          <p:cNvPr id="13" name="Output text"/>
          <p:cNvSpPr txBox="1"/>
          <p:nvPr/>
        </p:nvSpPr>
        <p:spPr>
          <a:xfrm>
            <a:off x="5760720" y="33832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OUTPUT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Send a command out of the pin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Reading and writing pins</a:t>
            </a:r>
            <a:endParaRPr lang="en-US" sz="3400" dirty="0"/>
          </a:p>
        </p:txBody>
      </p:sp>
      <p:sp>
        <p:nvSpPr>
          <p:cNvPr id="3" name="Digital card"/>
          <p:cNvSpPr/>
          <p:nvPr/>
        </p:nvSpPr>
        <p:spPr>
          <a:xfrm>
            <a:off x="548640" y="1371600"/>
            <a:ext cx="374904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33271F">
                <a:alpha val="15000"/>
              </a:srgbClr>
            </a:outerShdw>
          </a:effectLst>
        </p:spPr>
      </p:sp>
      <p:sp>
        <p:nvSpPr>
          <p:cNvPr id="4" name="Digital label pill"/>
          <p:cNvSpPr/>
          <p:nvPr/>
        </p:nvSpPr>
        <p:spPr>
          <a:xfrm>
            <a:off x="822960" y="1645920"/>
            <a:ext cx="20116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Digital label"/>
          <p:cNvSpPr txBox="1"/>
          <p:nvPr/>
        </p:nvSpPr>
        <p:spPr>
          <a:xfrm>
            <a:off x="822960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DIGITAL PINS</a:t>
            </a:r>
            <a:endParaRPr lang="en-US" sz="1600" dirty="0"/>
          </a:p>
        </p:txBody>
      </p:sp>
      <p:sp>
        <p:nvSpPr>
          <p:cNvPr id="6" name="Digital role 1"/>
          <p:cNvSpPr txBox="1"/>
          <p:nvPr/>
        </p:nvSpPr>
        <p:spPr>
          <a:xfrm>
            <a:off x="82296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Read with</a:t>
            </a:r>
            <a:endParaRPr lang="en-US" sz="1400" dirty="0"/>
          </a:p>
        </p:txBody>
      </p:sp>
      <p:sp>
        <p:nvSpPr>
          <p:cNvPr id="7" name="Digital code pill 1"/>
          <p:cNvSpPr/>
          <p:nvPr/>
        </p:nvSpPr>
        <p:spPr>
          <a:xfrm>
            <a:off x="822960" y="2697480"/>
            <a:ext cx="320040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8" name="Digital code 1"/>
          <p:cNvSpPr txBox="1"/>
          <p:nvPr/>
        </p:nvSpPr>
        <p:spPr>
          <a:xfrm>
            <a:off x="82296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digitalRead(pin)</a:t>
            </a:r>
            <a:endParaRPr lang="en-US" sz="1600" dirty="0"/>
          </a:p>
        </p:txBody>
      </p:sp>
      <p:sp>
        <p:nvSpPr>
          <p:cNvPr id="9" name="Digital role 2"/>
          <p:cNvSpPr txBox="1"/>
          <p:nvPr/>
        </p:nvSpPr>
        <p:spPr>
          <a:xfrm>
            <a:off x="82296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Write / execute with</a:t>
            </a:r>
            <a:endParaRPr lang="en-US" sz="1400" dirty="0"/>
          </a:p>
        </p:txBody>
      </p:sp>
      <p:sp>
        <p:nvSpPr>
          <p:cNvPr id="10" name="Digital code pill 2"/>
          <p:cNvSpPr/>
          <p:nvPr/>
        </p:nvSpPr>
        <p:spPr>
          <a:xfrm>
            <a:off x="822960" y="3611880"/>
            <a:ext cx="320040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11" name="Digital code 2"/>
          <p:cNvSpPr txBox="1"/>
          <p:nvPr/>
        </p:nvSpPr>
        <p:spPr>
          <a:xfrm>
            <a:off x="82296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digitalWrite(pin, value)</a:t>
            </a:r>
            <a:endParaRPr lang="en-US" sz="1600" dirty="0"/>
          </a:p>
        </p:txBody>
      </p:sp>
      <p:sp>
        <p:nvSpPr>
          <p:cNvPr id="12" name="Analog card"/>
          <p:cNvSpPr/>
          <p:nvPr/>
        </p:nvSpPr>
        <p:spPr>
          <a:xfrm>
            <a:off x="4846320" y="1371600"/>
            <a:ext cx="374904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33271F">
                <a:alpha val="15000"/>
              </a:srgbClr>
            </a:outerShdw>
          </a:effectLst>
        </p:spPr>
      </p:sp>
      <p:sp>
        <p:nvSpPr>
          <p:cNvPr id="13" name="Analog label pill"/>
          <p:cNvSpPr/>
          <p:nvPr/>
        </p:nvSpPr>
        <p:spPr>
          <a:xfrm>
            <a:off x="5120640" y="1645920"/>
            <a:ext cx="20116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4" name="Analog label"/>
          <p:cNvSpPr txBox="1"/>
          <p:nvPr/>
        </p:nvSpPr>
        <p:spPr>
          <a:xfrm>
            <a:off x="5120640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ANALOG PINS</a:t>
            </a:r>
            <a:endParaRPr lang="en-US" sz="1600" dirty="0"/>
          </a:p>
        </p:txBody>
      </p:sp>
      <p:sp>
        <p:nvSpPr>
          <p:cNvPr id="15" name="Analog role 1"/>
          <p:cNvSpPr txBox="1"/>
          <p:nvPr/>
        </p:nvSpPr>
        <p:spPr>
          <a:xfrm>
            <a:off x="512064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Read with</a:t>
            </a:r>
            <a:endParaRPr lang="en-US" sz="1400" dirty="0"/>
          </a:p>
        </p:txBody>
      </p:sp>
      <p:sp>
        <p:nvSpPr>
          <p:cNvPr id="16" name="Analog code pill 1"/>
          <p:cNvSpPr/>
          <p:nvPr/>
        </p:nvSpPr>
        <p:spPr>
          <a:xfrm>
            <a:off x="5120640" y="2697480"/>
            <a:ext cx="320040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17" name="Analog code 1"/>
          <p:cNvSpPr txBox="1"/>
          <p:nvPr/>
        </p:nvSpPr>
        <p:spPr>
          <a:xfrm>
            <a:off x="512064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analogRead(pin)</a:t>
            </a:r>
            <a:endParaRPr lang="en-US" sz="1600" dirty="0"/>
          </a:p>
        </p:txBody>
      </p:sp>
      <p:sp>
        <p:nvSpPr>
          <p:cNvPr id="18" name="Analog role 2"/>
          <p:cNvSpPr txBox="1"/>
          <p:nvPr/>
        </p:nvSpPr>
        <p:spPr>
          <a:xfrm>
            <a:off x="512064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Write with</a:t>
            </a:r>
            <a:endParaRPr lang="en-US" sz="1400" dirty="0"/>
          </a:p>
        </p:txBody>
      </p:sp>
      <p:sp>
        <p:nvSpPr>
          <p:cNvPr id="19" name="Analog code pill 2"/>
          <p:cNvSpPr/>
          <p:nvPr/>
        </p:nvSpPr>
        <p:spPr>
          <a:xfrm>
            <a:off x="5120640" y="3611880"/>
            <a:ext cx="320040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20" name="Analog code 2"/>
          <p:cNvSpPr txBox="1"/>
          <p:nvPr/>
        </p:nvSpPr>
        <p:spPr>
          <a:xfrm>
            <a:off x="512064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analogWrite(pin, value)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The voltage divider circuit</a:t>
            </a:r>
            <a:endParaRPr lang="en-US" sz="3400" dirty="0"/>
          </a:p>
        </p:txBody>
      </p:sp>
      <p:sp>
        <p:nvSpPr>
          <p:cNvPr id="3" name="Circuit card"/>
          <p:cNvSpPr/>
          <p:nvPr/>
        </p:nvSpPr>
        <p:spPr>
          <a:xfrm>
            <a:off x="548640" y="1371600"/>
            <a:ext cx="5303520" cy="2743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33271F">
                <a:alpha val="15000"/>
              </a:srgbClr>
            </a:outerShdw>
          </a:effectLst>
        </p:spPr>
      </p:sp>
      <p:pic>
        <p:nvPicPr>
          <p:cNvPr id="4" name="Figure 2 voltage divider" descr="Voltage divider circuit: 5 V supply across two series resistors, with 3.33 V measured between th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08760"/>
            <a:ext cx="5029200" cy="2280460"/>
          </a:xfrm>
          <a:prstGeom prst="rect">
            <a:avLst/>
          </a:prstGeom>
        </p:spPr>
      </p:pic>
      <p:sp>
        <p:nvSpPr>
          <p:cNvPr id="5" name="Figure 2 caption"/>
          <p:cNvSpPr txBox="1"/>
          <p:nvPr/>
        </p:nvSpPr>
        <p:spPr>
          <a:xfrm>
            <a:off x="548640" y="4206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Figure 2: Voltage divider circuit</a:t>
            </a:r>
            <a:endParaRPr lang="en-US" sz="1100" dirty="0"/>
          </a:p>
        </p:txBody>
      </p:sp>
      <p:sp>
        <p:nvSpPr>
          <p:cNvPr id="6" name="Vin card"/>
          <p:cNvSpPr/>
          <p:nvPr/>
        </p:nvSpPr>
        <p:spPr>
          <a:xfrm>
            <a:off x="6217920" y="1371600"/>
            <a:ext cx="237744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33271F">
                <a:alpha val="15000"/>
              </a:srgbClr>
            </a:outerShdw>
          </a:effectLst>
        </p:spPr>
      </p:sp>
      <p:sp>
        <p:nvSpPr>
          <p:cNvPr id="7" name="Vin value"/>
          <p:cNvSpPr txBox="1"/>
          <p:nvPr/>
        </p:nvSpPr>
        <p:spPr>
          <a:xfrm>
            <a:off x="6400800" y="14447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5.00 V</a:t>
            </a:r>
            <a:endParaRPr lang="en-US" sz="2600" dirty="0"/>
          </a:p>
        </p:txBody>
      </p:sp>
      <p:sp>
        <p:nvSpPr>
          <p:cNvPr id="8" name="Vin label"/>
          <p:cNvSpPr txBox="1"/>
          <p:nvPr/>
        </p:nvSpPr>
        <p:spPr>
          <a:xfrm>
            <a:off x="6400800" y="1938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Voltage in</a:t>
            </a:r>
            <a:endParaRPr lang="en-US" sz="1400" dirty="0"/>
          </a:p>
        </p:txBody>
      </p:sp>
      <p:sp>
        <p:nvSpPr>
          <p:cNvPr id="9" name="Vout card"/>
          <p:cNvSpPr/>
          <p:nvPr/>
        </p:nvSpPr>
        <p:spPr>
          <a:xfrm>
            <a:off x="6217920" y="2468880"/>
            <a:ext cx="237744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33271F">
                <a:alpha val="15000"/>
              </a:srgbClr>
            </a:outerShdw>
          </a:effectLst>
        </p:spPr>
      </p:sp>
      <p:sp>
        <p:nvSpPr>
          <p:cNvPr id="10" name="Vout value"/>
          <p:cNvSpPr txBox="1"/>
          <p:nvPr/>
        </p:nvSpPr>
        <p:spPr>
          <a:xfrm>
            <a:off x="6400800" y="25420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3.33 V</a:t>
            </a:r>
            <a:endParaRPr lang="en-US" sz="2600" dirty="0"/>
          </a:p>
        </p:txBody>
      </p:sp>
      <p:sp>
        <p:nvSpPr>
          <p:cNvPr id="11" name="Vout label"/>
          <p:cNvSpPr txBox="1"/>
          <p:nvPr/>
        </p:nvSpPr>
        <p:spPr>
          <a:xfrm>
            <a:off x="6400800" y="3035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Voltage out</a:t>
            </a:r>
            <a:endParaRPr lang="en-US" sz="1400" dirty="0"/>
          </a:p>
        </p:txBody>
      </p:sp>
      <p:sp>
        <p:nvSpPr>
          <p:cNvPr id="12" name="Current card"/>
          <p:cNvSpPr/>
          <p:nvPr/>
        </p:nvSpPr>
        <p:spPr>
          <a:xfrm>
            <a:off x="6217920" y="3566160"/>
            <a:ext cx="237744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33271F">
                <a:alpha val="15000"/>
              </a:srgbClr>
            </a:outerShdw>
          </a:effectLst>
        </p:spPr>
      </p:sp>
      <p:sp>
        <p:nvSpPr>
          <p:cNvPr id="13" name="Current value"/>
          <p:cNvSpPr txBox="1"/>
          <p:nvPr/>
        </p:nvSpPr>
        <p:spPr>
          <a:xfrm>
            <a:off x="6400800" y="36393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1.67 mA</a:t>
            </a:r>
            <a:endParaRPr lang="en-US" sz="2600" dirty="0"/>
          </a:p>
        </p:txBody>
      </p:sp>
      <p:sp>
        <p:nvSpPr>
          <p:cNvPr id="14" name="Current label"/>
          <p:cNvSpPr txBox="1"/>
          <p:nvPr/>
        </p:nvSpPr>
        <p:spPr>
          <a:xfrm>
            <a:off x="6400800" y="4133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Current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The voltage divider formula</a:t>
            </a:r>
            <a:endParaRPr lang="en-US" sz="3400" dirty="0"/>
          </a:p>
        </p:txBody>
      </p:sp>
      <p:sp>
        <p:nvSpPr>
          <p:cNvPr id="3" name="Formula card"/>
          <p:cNvSpPr/>
          <p:nvPr/>
        </p:nvSpPr>
        <p:spPr>
          <a:xfrm>
            <a:off x="548640" y="1371600"/>
            <a:ext cx="8046720" cy="1280160"/>
          </a:xfrm>
          <a:prstGeom prst="roundRect">
            <a:avLst>
              <a:gd name="adj" fmla="val 8571"/>
            </a:avLst>
          </a:prstGeom>
          <a:solidFill>
            <a:schemeClr val="accent2"/>
          </a:solidFill>
          <a:ln/>
        </p:spPr>
      </p:sp>
      <p:sp>
        <p:nvSpPr>
          <p:cNvPr id="4" name="Formula"/>
          <p:cNvSpPr txBox="1"/>
          <p:nvPr/>
        </p:nvSpPr>
        <p:spPr>
          <a:xfrm>
            <a:off x="731520" y="13716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Vout  =  R2 / (R1 + R2)  ×  Vin</a:t>
            </a:r>
            <a:endParaRPr lang="en-US" sz="3600" dirty="0"/>
          </a:p>
        </p:txBody>
      </p:sp>
      <p:sp>
        <p:nvSpPr>
          <p:cNvPr id="5" name="Example label"/>
          <p:cNvSpPr txBox="1"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Worked example (Figures 2 and 3)</a:t>
            </a:r>
            <a:endParaRPr lang="en-US" sz="1600" dirty="0"/>
          </a:p>
        </p:txBody>
      </p:sp>
      <p:sp>
        <p:nvSpPr>
          <p:cNvPr id="6" name="Worked example"/>
          <p:cNvSpPr txBox="1"/>
          <p:nvPr/>
        </p:nvSpPr>
        <p:spPr>
          <a:xfrm>
            <a:off x="548640" y="33375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3.333 V</a:t>
            </a:r>
            <a:r>
              <a:rPr lang="en-US" sz="3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2 / (2 + 1)  ×  </a:t>
            </a:r>
            <a:r>
              <a:rPr lang="en-US" sz="3000" b="1" dirty="0">
                <a:solidFill>
                  <a:srgbClr val="E58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V</a:t>
            </a:r>
            <a:endParaRPr lang="en-US" sz="3000" dirty="0"/>
          </a:p>
        </p:txBody>
      </p:sp>
      <p:sp>
        <p:nvSpPr>
          <p:cNvPr id="7" name="Formula note"/>
          <p:cNvSpPr txBox="1"/>
          <p:nvPr/>
        </p:nvSpPr>
        <p:spPr>
          <a:xfrm>
            <a:off x="54864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R2 is the resistor the output is measured across; R1 sits between the supply and the output.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arthly Arduino">
  <a:themeElements>
    <a:clrScheme name="Earthly Arduino">
      <a:dk1>
        <a:srgbClr val="33271F"/>
      </a:dk1>
      <a:lt1>
        <a:srgbClr val="FFFFFF"/>
      </a:lt1>
      <a:dk2>
        <a:srgbClr val="4A5A2C"/>
      </a:dk2>
      <a:lt2>
        <a:srgbClr val="F4EDE0"/>
      </a:lt2>
      <a:accent1>
        <a:srgbClr val="B5573A"/>
      </a:accent1>
      <a:accent2>
        <a:srgbClr val="5B6B3A"/>
      </a:accent2>
      <a:accent3>
        <a:srgbClr val="D9A66B"/>
      </a:accent3>
      <a:accent4>
        <a:srgbClr val="A3B18A"/>
      </a:accent4>
      <a:accent5>
        <a:srgbClr val="8C6A4F"/>
      </a:accent5>
      <a:accent6>
        <a:srgbClr val="E3C9A8"/>
      </a:accent6>
      <a:hlink>
        <a:srgbClr val="B5573A"/>
      </a:hlink>
      <a:folHlink>
        <a:srgbClr val="8C6A4F"/>
      </a:folHlink>
    </a:clrScheme>
    <a:fontScheme name="Earthly Arduin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431</Words>
  <Application>Microsoft Office PowerPoint</Application>
  <PresentationFormat>On-screen Show (16:9)</PresentationFormat>
  <Paragraphs>69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Earthly Arduino</vt:lpstr>
      <vt:lpstr>Arduino Uno</vt:lpstr>
      <vt:lpstr>What is the Arduino Uno?</vt:lpstr>
      <vt:lpstr>Digital and analog pins</vt:lpstr>
      <vt:lpstr>Declare a pin before using it</vt:lpstr>
      <vt:lpstr>Reading and writing pins</vt:lpstr>
      <vt:lpstr>The voltage divider circuit</vt:lpstr>
      <vt:lpstr>The voltage divider formula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Arduino Uno</dc:title>
  <dc:subject>PptxGenJS Presentation</dc:subject>
  <dc:creator>PptxGenJS</dc:creator>
  <cp:lastModifiedBy>Vincent O</cp:lastModifiedBy>
  <cp:revision>2</cp:revision>
  <dcterms:created xsi:type="dcterms:W3CDTF">2026-10-13T18:12:57Z</dcterms:created>
  <dcterms:modified xsi:type="dcterms:W3CDTF">2026-10-13T18:19:13Z</dcterms:modified>
</cp:coreProperties>
</file>